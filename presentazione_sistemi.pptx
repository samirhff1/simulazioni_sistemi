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B3EEF5-BF4D-4BF8-9E72-9CFC26119300}">
  <a:tblStyle styleId="{9DB3EEF5-BF4D-4BF8-9E72-9CFC2611930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37160" y="0"/>
            <a:ext cx="45720" cy="514350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4864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Simulazione di una Coda con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1170432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Vacation, N-Policy e Set-up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Google Shape;20;p3"/>
          <p:cNvCxnSpPr/>
          <p:nvPr/>
        </p:nvCxnSpPr>
        <p:spPr>
          <a:xfrm>
            <a:off x="548640" y="1938528"/>
            <a:ext cx="5486400" cy="0"/>
          </a:xfrm>
          <a:prstGeom prst="straightConnector1">
            <a:avLst/>
          </a:prstGeom>
          <a:noFill/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" name="Google Shape;21;p3"/>
          <p:cNvSpPr/>
          <p:nvPr/>
        </p:nvSpPr>
        <p:spPr>
          <a:xfrm>
            <a:off x="548640" y="210312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FD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AFD4"/>
                </a:solidFill>
                <a:latin typeface="Calibri"/>
                <a:ea typeface="Calibri"/>
                <a:cs typeface="Calibri"/>
                <a:sym typeface="Calibri"/>
              </a:rPr>
              <a:t>Bulk Arrival  ·  Bulk Service (a,b)=(7,16)  ·  Single Vacation Rule  ·  OMNeT++ 6.3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633472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Autore: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1920240" y="2633472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Mohamed Samir Haffoudhi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48640" y="2980944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Email: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920240" y="2980944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mohamed.haffoudhi@studio.unibo.it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548640" y="3328416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Corso: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920240" y="3328416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Simulazione di Sistemi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548640" y="3675888"/>
            <a:ext cx="1280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Anno: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920240" y="3675888"/>
            <a:ext cx="6400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M1 Informatica  —  A.A. 2025/2026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48640" y="477316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890"/>
                </a:solidFill>
                <a:latin typeface="Calibri"/>
                <a:ea typeface="Calibri"/>
                <a:cs typeface="Calibri"/>
                <a:sym typeface="Calibri"/>
              </a:rPr>
              <a:t>Rif.: P. Karan, S. Pradhan — Performance Evaluation 167 (2025) 102459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Struttura della presentazione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74320" y="123444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274320" y="123444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274320" y="123444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130759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Descrizione del Modello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868680" y="170992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Processi di arrivo, servizio, vacation e N-policy con parametri reali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74320" y="233172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274320" y="233172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274320" y="233172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868680" y="240487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Implementazione OMNeT++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68680" y="280720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Struttura file, moduli C++ custom, segnali NED e raccolta statistica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274320" y="342900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74320" y="342900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274320" y="342900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868680" y="350215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BatchSource — Codice Reale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868680" y="390448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Generazione Poisson composto: exponential(m) + intuniform(x1,x2)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754880" y="123444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754880" y="123444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4754880" y="123444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349240" y="130759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BulkServiceVacationServer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349240" y="170992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Macchina a 4 stati, service/vacation/setup con formule dalla specifica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754880" y="233172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4754880" y="233172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754880" y="233172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49240" y="240487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Analisi Transiente e Risultati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349240" y="280720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Warm-up 10000s, misure L/W/ρ/vacation con IC 95% su 20 run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754880" y="3429000"/>
            <a:ext cx="4206240" cy="96012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4754880" y="3429000"/>
            <a:ext cx="502920" cy="96012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4754880" y="3429000"/>
            <a:ext cx="5029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5349240" y="3502152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Legge di Little e Conclusioni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5349240" y="3904488"/>
            <a:ext cx="3520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Verifica L=λW, errore &lt; 10%, conformità 100% alla consegna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Descrizione del Modello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Variante della specifica — Single Vacation Rule (SVR) only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228600" y="1097280"/>
            <a:ext cx="4251960" cy="35661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D1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274320" y="1188720"/>
            <a:ext cx="54864" cy="749808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420624" y="11887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Arrivo Batch (compound Poisson)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20624" y="1463040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Inter-arrivo: Exp(m), m ∈ {0.5,1.0,1.4,2.0}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Batch X ~ U_discreta[1,4], E[X]=2.5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λ_jobs = E[X]/m = 2.5/m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274320" y="2039112"/>
            <a:ext cx="54864" cy="7498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20624" y="203911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Servizio bulk (a,b) = (7,16)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20624" y="2313432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 = (r/b)·sp + U(l,u)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sp=0.1, l=1.0, u=3.92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FCFS, nuovi arrivi NON entrano nel batch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274320" y="2889504"/>
            <a:ext cx="54864" cy="7498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420624" y="28895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Vacation SVR — dipendente da 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20624" y="3163824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Attivata se post-servizio queue &lt; a=7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 = ((k+1)/b)·sv + U(z,w)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sv=0.2, z=2.0, w=3.8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274320" y="3739896"/>
            <a:ext cx="54864" cy="7498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20624" y="373989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N-Policy + Set-up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420624" y="4014216"/>
            <a:ext cx="3931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Dormant se queue &lt; N=20 al ritorno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Set-up: Exp(q=1.0) se queue ≥ N=20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709160" y="1097280"/>
            <a:ext cx="420624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4800600" y="117043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Parametri (omnetpp.ini)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6" name="Google Shape;96;p5"/>
          <p:cNvGraphicFramePr/>
          <p:nvPr/>
        </p:nvGraphicFramePr>
        <p:xfrm>
          <a:off x="4754880" y="14813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{9DB3EEF5-BF4D-4BF8-9E72-9CFC26119300}</a:tableStyleId>
              </a:tblPr>
              <a:tblGrid>
                <a:gridCol w="822950"/>
                <a:gridCol w="1325875"/>
                <a:gridCol w="1920250"/>
              </a:tblGrid>
              <a:tr h="1270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Sezione INI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{0.5,1.0,1.4,2.0}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Config m05..m20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x1,x2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1, 4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a, b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7, 16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l, u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1.0, 3.92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sv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z, w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2.0, 3.8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0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[General]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Implementazione OMNeT++ 6.3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Struttura progetto — moduli C++ custom + queueinglib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228600" y="1097280"/>
            <a:ext cx="3931920" cy="356616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D1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47472" y="117043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Struttura del progetto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292608" y="1517904"/>
            <a:ext cx="54864" cy="5486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420624" y="15179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BatchSource.h / .cc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420624" y="177393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Generatore arrivi batch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(Poisson + U_discreta)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292608" y="2176272"/>
            <a:ext cx="54864" cy="54864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420624" y="217627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BulkServiceVacation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Server.h / .cc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420624" y="243230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Server bulk SVR N-policy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(macchina 4 stati)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292608" y="2834640"/>
            <a:ext cx="54864" cy="5486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420624" y="28346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modello_progetto.ned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420624" y="30906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Rete + segnali +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@statistic NED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292608" y="3493008"/>
            <a:ext cx="54864" cy="54864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420624" y="34930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omnetpp.ini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420624" y="3749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 config + 4 transient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repeat=20, warmup=10000s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292608" y="4151376"/>
            <a:ext cx="54864" cy="54864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420624" y="41513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analisi_risultati.py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420624" y="440740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IC 95%, Little,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grafici, CSV output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4343400" y="1097280"/>
            <a:ext cx="4572000" cy="3566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E4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4434840" y="117043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Segnali e @statistic (modello_progetto.ned)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4407408" y="1545336"/>
            <a:ext cx="45720" cy="292608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4526280" y="150876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2E5FA3"/>
                </a:solidFill>
                <a:latin typeface="Courier New"/>
                <a:ea typeface="Courier New"/>
                <a:cs typeface="Courier New"/>
                <a:sym typeface="Courier New"/>
              </a:rPr>
              <a:t>numInSystem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4526280" y="169164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6263640" y="154533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timeavg,max,vector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407408" y="1938528"/>
            <a:ext cx="45720" cy="292608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4526280" y="190195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ourier New"/>
                <a:ea typeface="Courier New"/>
                <a:cs typeface="Courier New"/>
                <a:sym typeface="Courier New"/>
              </a:rPr>
              <a:t>busy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4526280" y="208483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6263640" y="193852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timeavg,vector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4407408" y="2331720"/>
            <a:ext cx="45720" cy="292608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4526280" y="229514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0D1B3E"/>
                </a:solidFill>
                <a:latin typeface="Courier New"/>
                <a:ea typeface="Courier New"/>
                <a:cs typeface="Courier New"/>
                <a:sym typeface="Courier New"/>
              </a:rPr>
              <a:t>vacationDuration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4526280" y="247802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E[vac]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63640" y="23317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mean,histogram,vector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407408" y="2724912"/>
            <a:ext cx="45720" cy="292608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4526280" y="2688336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D97706"/>
                </a:solidFill>
                <a:latin typeface="Courier New"/>
                <a:ea typeface="Courier New"/>
                <a:cs typeface="Courier New"/>
                <a:sym typeface="Courier New"/>
              </a:rPr>
              <a:t>queueLength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26280" y="2871216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Lq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263640" y="2724912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timeavg,max,vector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4407408" y="3118104"/>
            <a:ext cx="45720" cy="29260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4526280" y="3081528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serviceTime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4526280" y="3264408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diagnostica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6263640" y="3118104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mean,histogram,vector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4407408" y="3511296"/>
            <a:ext cx="45720" cy="29260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4526280" y="347472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batchServiceSize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526280" y="36576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diagnostica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263640" y="3511296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mean,histogram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407408" y="3904488"/>
            <a:ext cx="45720" cy="292608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4526280" y="3867912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setupDuration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26280" y="4050792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diagnostica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6263640" y="3904488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mean,vector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407408" y="4297680"/>
            <a:ext cx="45720" cy="292608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526280" y="4261104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000"/>
              <a:buFont typeface="Courier New"/>
              <a:buNone/>
            </a:pPr>
            <a:r>
              <a:rPr b="1" i="0" lang="en-US" sz="1000" u="none" cap="none" strike="noStrike">
                <a:solidFill>
                  <a:srgbClr val="1D9E75"/>
                </a:solidFill>
                <a:latin typeface="Courier New"/>
                <a:ea typeface="Courier New"/>
                <a:cs typeface="Courier New"/>
                <a:sym typeface="Courier New"/>
              </a:rPr>
              <a:t>created (sum)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526280" y="4443984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→ throughput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263640" y="429768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ourier New"/>
                <a:ea typeface="Courier New"/>
                <a:cs typeface="Courier New"/>
                <a:sym typeface="Courier New"/>
              </a:rPr>
              <a:t>sum,vector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BatchSource — Codice Reale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BatchSource.cc — generatore compound Poisson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228600" y="1097280"/>
            <a:ext cx="8686800" cy="502920"/>
          </a:xfrm>
          <a:prstGeom prst="rect">
            <a:avLst/>
          </a:prstGeom>
          <a:solidFill>
            <a:srgbClr val="EEF6FF"/>
          </a:solidFill>
          <a:ln cap="flat" cmpd="sng" w="254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65760" y="118872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Compound Poisson:  inter-arrivo ~ Exp(m)   e   batch size X ~ U_discreta[x1, x2]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28600" y="1691640"/>
            <a:ext cx="4297680" cy="173736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28600" y="169164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301752" y="17099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338328" y="1929384"/>
            <a:ext cx="4114800" cy="1444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void BatchSource::initialize()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m  = par("m").doubleValue();   // media inter-arrivo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x1 = par("x1").intValue();     // batch min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x2 = par("x2").intValue();     // batch max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timerMsg = new cMessage("batchTimer");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scheduleAt(startTime, timerMsg);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617720" y="1691640"/>
            <a:ext cx="4297680" cy="173736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4617720" y="169164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4690872" y="17099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/>
          <p:nvPr/>
        </p:nvSpPr>
        <p:spPr>
          <a:xfrm>
            <a:off x="4727450" y="2008675"/>
            <a:ext cx="4114800" cy="13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void BatchSource::handleMessage(cMessage *msg)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// Dimensione batch: U_discreta[x1, x2]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int batchSize = intuniform(x1, x2);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emit(batchSizeSignal, batchSize);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for (int i = 0; i &lt; batchSize; i++) {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  Job *job = new Job(...);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  job-&gt;setTimestamp();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  send(job, "out");   // invia job singoli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emit(createdSignal, batchSize); // sum → jobs totali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// Prossimo arrivo: Exp(m)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scheduleAt(simTime() + exponential(m), timerMsg);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28600" y="3520440"/>
            <a:ext cx="4297680" cy="118872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347472" y="35844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Parametri INI (omnetpp.ini)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47472" y="3858768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Modello_progetto.source.m  = 0.5   # Config m05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Modello_progetto.source.x1 =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ourier New"/>
                <a:ea typeface="Courier New"/>
                <a:cs typeface="Courier New"/>
                <a:sym typeface="Courier New"/>
              </a:rPr>
              <a:t>Modello_progetto.source.x2 =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617720" y="3520440"/>
            <a:ext cx="4297680" cy="1188720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4736592" y="3584448"/>
            <a:ext cx="4023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Correzione @statistic[created]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736592" y="3858768"/>
            <a:ext cx="4023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record=sum,vector  ← corretto (somma job)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NON record=count  (contava solo i batch)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 sum di batchSize = jobs totali creati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BulkServiceVacationServer — Macchina a Stati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BulkServiceVacationServer.cc — 4 stati, 3 self-message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457200" y="1371600"/>
            <a:ext cx="1920240" cy="10972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457200" y="14447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Servizio batch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a ≤ r ≤ 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6583680" y="1371600"/>
            <a:ext cx="1920240" cy="109728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6583680" y="14447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6583680" y="19202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SVR queue-dep.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singola vacation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583680" y="3200400"/>
            <a:ext cx="1920240" cy="10972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/>
          <p:nvPr/>
        </p:nvSpPr>
        <p:spPr>
          <a:xfrm>
            <a:off x="6583680" y="32735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583680" y="3749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Dormant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queue &lt; 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457200" y="3200400"/>
            <a:ext cx="1920240" cy="10972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457200" y="3273552"/>
            <a:ext cx="19202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457200" y="374904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Exp(q=1.0)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DEE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DEEFF"/>
                </a:solidFill>
                <a:latin typeface="Calibri"/>
                <a:ea typeface="Calibri"/>
                <a:cs typeface="Calibri"/>
                <a:sym typeface="Calibri"/>
              </a:rPr>
              <a:t>prima del servizio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8"/>
          <p:cNvCxnSpPr/>
          <p:nvPr/>
        </p:nvCxnSpPr>
        <p:spPr>
          <a:xfrm>
            <a:off x="2377440" y="1920240"/>
            <a:ext cx="420624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7" name="Google Shape;207;p8"/>
          <p:cNvSpPr/>
          <p:nvPr/>
        </p:nvSpPr>
        <p:spPr>
          <a:xfrm>
            <a:off x="3200400" y="1682496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queue &lt; a=7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" name="Google Shape;208;p8"/>
          <p:cNvCxnSpPr/>
          <p:nvPr/>
        </p:nvCxnSpPr>
        <p:spPr>
          <a:xfrm>
            <a:off x="7543800" y="2468880"/>
            <a:ext cx="0" cy="7315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09" name="Google Shape;209;p8"/>
          <p:cNvSpPr/>
          <p:nvPr/>
        </p:nvSpPr>
        <p:spPr>
          <a:xfrm>
            <a:off x="7635240" y="2724912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queue &lt; N=20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" name="Google Shape;210;p8"/>
          <p:cNvCxnSpPr/>
          <p:nvPr/>
        </p:nvCxnSpPr>
        <p:spPr>
          <a:xfrm rot="10800000">
            <a:off x="2377440" y="3749040"/>
            <a:ext cx="420624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1" name="Google Shape;211;p8"/>
          <p:cNvSpPr/>
          <p:nvPr/>
        </p:nvSpPr>
        <p:spPr>
          <a:xfrm>
            <a:off x="3200400" y="3803904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queue ≥ N=20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8"/>
          <p:cNvCxnSpPr/>
          <p:nvPr/>
        </p:nvCxnSpPr>
        <p:spPr>
          <a:xfrm rot="10800000">
            <a:off x="1417320" y="2468880"/>
            <a:ext cx="0" cy="7315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3" name="Google Shape;213;p8"/>
          <p:cNvSpPr/>
          <p:nvPr/>
        </p:nvSpPr>
        <p:spPr>
          <a:xfrm>
            <a:off x="73152" y="2743200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setup done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" name="Google Shape;214;p8"/>
          <p:cNvCxnSpPr/>
          <p:nvPr/>
        </p:nvCxnSpPr>
        <p:spPr>
          <a:xfrm flipH="1">
            <a:off x="2377440" y="2103120"/>
            <a:ext cx="4206240" cy="109728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15" name="Google Shape;215;p8"/>
          <p:cNvSpPr/>
          <p:nvPr/>
        </p:nvSpPr>
        <p:spPr>
          <a:xfrm>
            <a:off x="3200400" y="246888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queue ≥ N=20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228600" y="4462272"/>
            <a:ext cx="8686800" cy="256032"/>
          </a:xfrm>
          <a:prstGeom prst="rect">
            <a:avLst/>
          </a:prstGeom>
          <a:solidFill>
            <a:srgbClr val="FFF8E1"/>
          </a:solidFill>
          <a:ln cap="flat" cmpd="sng" w="1905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347472" y="4480560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Correzione critica (riga dopo batchBeingServed=0):   emit(numInSystemSignal, getSystemPopulation());  → garantisce correttezza di 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Formule di Servizio, Vacation e Set-up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BulkServiceVacationServer.cc — implementazione dalla specifica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228600" y="1097280"/>
            <a:ext cx="4297680" cy="141732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228600" y="109728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01752" y="111556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38328" y="1335024"/>
            <a:ext cx="41148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Tempo servizio batch-size-dependent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t = (r/b)*sp + U(l, u)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simtime_t computeServiceTime(int r)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double t1 = ((double)r / (double)b) * sp;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double t2 = uniform(l, u);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return t1 + t2;   // sp=0.1, l=1.0, u=3.92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4617720" y="1097280"/>
            <a:ext cx="4297680" cy="141732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4617720" y="109728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4690872" y="111556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727448" y="1335024"/>
            <a:ext cx="4114800" cy="1124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Tempo vacation dipendente da k (coda al via)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t = ((k+1)/b)*sv + U(z, w)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simtime_t computeVacationTime(int k)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double t1 = ((double)(k+1)/(double)b)*sv;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double t2 = uniform(z, w);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return t1 + t2;  // sv=0.2, z=2.0, w=3.8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228600" y="2606040"/>
            <a:ext cx="4297680" cy="10058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228600" y="260604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301752" y="26243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338328" y="2843784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Set-up: esponenziale di media q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simtime_t computeSetupTime()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return exponential(q);  // q = 1.0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4617720" y="2606040"/>
            <a:ext cx="4297680" cy="100584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4617720" y="2606040"/>
            <a:ext cx="429768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4690872" y="262432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727448" y="2843784"/>
            <a:ext cx="41148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Popolazione nel sistema (coda + servizio)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int getSystemPopulation() 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  return queue.getLength() + batchBeingServed;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228600" y="3703320"/>
            <a:ext cx="8686800" cy="1051560"/>
          </a:xfrm>
          <a:prstGeom prst="rect">
            <a:avLst/>
          </a:prstGeom>
          <a:solidFill>
            <a:srgbClr val="1E2D3D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228600" y="3703320"/>
            <a:ext cx="8686800" cy="201168"/>
          </a:xfrm>
          <a:prstGeom prst="rect">
            <a:avLst/>
          </a:prstGeom>
          <a:solidFill>
            <a:srgbClr val="162535"/>
          </a:solidFill>
          <a:ln cap="flat" cmpd="sng" w="12700">
            <a:solidFill>
              <a:srgbClr val="2A3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301752" y="372160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C8E3"/>
              </a:buClr>
              <a:buSzPts val="800"/>
              <a:buFont typeface="Courier New"/>
              <a:buNone/>
            </a:pPr>
            <a:r>
              <a:rPr b="0" i="0" lang="en-US" sz="800" u="none" cap="none" strike="noStrike">
                <a:solidFill>
                  <a:srgbClr val="7EC8E3"/>
                </a:solidFill>
                <a:latin typeface="Courier New"/>
                <a:ea typeface="Courier New"/>
                <a:cs typeface="Courier New"/>
                <a:sym typeface="Courier New"/>
              </a:rPr>
              <a:t>C++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338328" y="3941064"/>
            <a:ext cx="850392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// Fine servizio (endServiceMsg) — logica SVR + N-policy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emit(busySignal, false);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batchBeingServed = 0;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emit(numInSystemSignal, getSystemPopulation());  // ← CORREZIONE CRITICA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int qLen = queue.getLength();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if (qLen &gt;= a) { tryStartService(); }   // abbastanza clienti → nuovo servizio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6F1"/>
              </a:buClr>
              <a:buSzPts val="950"/>
              <a:buFont typeface="Courier New"/>
              <a:buNone/>
            </a:pPr>
            <a:r>
              <a:rPr b="0" i="0" lang="en-US" sz="750" u="none" cap="none" strike="noStrike">
                <a:solidFill>
                  <a:srgbClr val="D4E6F1"/>
                </a:solidFill>
                <a:latin typeface="Courier New"/>
                <a:ea typeface="Courier New"/>
                <a:cs typeface="Courier New"/>
                <a:sym typeface="Courier New"/>
              </a:rPr>
              <a:t>else           { startVacation();   }   // SVR → vacation dipendente da 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Analisi del Transiente Iniziale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Config dedicate: warmup-period=0s, repeat=1 — durata 100000s ciascuna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ransiente_transient_m05.png" id="258" name="Google Shape;25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019555"/>
            <a:ext cx="4343398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0"/>
          <p:cNvSpPr/>
          <p:nvPr/>
        </p:nvSpPr>
        <p:spPr>
          <a:xfrm>
            <a:off x="228600" y="2720351"/>
            <a:ext cx="434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m=0.5  (ρ≈0.86)  →  ~6634s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ransiente_transient_m10.png" id="260" name="Google Shape;26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09160" y="1019555"/>
            <a:ext cx="4343398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0"/>
          <p:cNvSpPr/>
          <p:nvPr/>
        </p:nvSpPr>
        <p:spPr>
          <a:xfrm>
            <a:off x="4709150" y="2697426"/>
            <a:ext cx="43434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m=1.0             →  ~671s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ransiente_transient_m14.png" id="262" name="Google Shape;26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8600" y="2934063"/>
            <a:ext cx="4343398" cy="160708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0"/>
          <p:cNvSpPr/>
          <p:nvPr/>
        </p:nvSpPr>
        <p:spPr>
          <a:xfrm>
            <a:off x="228600" y="4681728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m=1.4             →  ~383s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transiente_transient_m20.png" id="264" name="Google Shape;264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09150" y="2887225"/>
            <a:ext cx="4343398" cy="1664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0"/>
          <p:cNvSpPr/>
          <p:nvPr/>
        </p:nvSpPr>
        <p:spPr>
          <a:xfrm>
            <a:off x="4709160" y="4681728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m=2.0             →  ~415s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228600" y="4654375"/>
            <a:ext cx="8686800" cy="320100"/>
          </a:xfrm>
          <a:prstGeom prst="rect">
            <a:avLst/>
          </a:prstGeom>
          <a:solidFill>
            <a:srgbClr val="E8F8F2"/>
          </a:solidFill>
          <a:ln cap="flat" cmpd="sng" w="1905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65760" y="4718304"/>
            <a:ext cx="8412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✓  warmup-period=10000s sufficiente per tutte le config — caso critico m=0.5 stabilizzazione ≈6634s (margine ×1.5)  |  [Config transient_*] in omnetpp.ini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Risultati — 20 Run per Configurazione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IC 95% via t-Student su repeat=20 run indipendenti (seed-set=${repetition})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11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{9DB3EEF5-BF4D-4BF8-9E72-9CFC26119300}</a:tableStyleId>
              </a:tblPr>
              <a:tblGrid>
                <a:gridCol w="502925"/>
                <a:gridCol w="2194550"/>
                <a:gridCol w="1828800"/>
                <a:gridCol w="1828800"/>
                <a:gridCol w="22402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 (utenti)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 (s)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ρ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E[vacation] (s)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29.75 [29.61, 29.88]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5.92 [5.89, 5.94]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0.864 [0.863, 0.866]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2.962 [2.959, 2.966]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16.92 [16.89, 16.94]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6.46 [6.46, 6.47]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0.472 [0.471, 0.473]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2.952 [2.949, 2.955]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15.20 [15.18, 15.22]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7.96 [7.94, 7.97]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0.339 [0.338, 0.340]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2.953 [2.949, 2.956]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14.10 [14.08, 14.11]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10.33 [10.30, 10.35]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0.237 [0.236, 0.238]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2.950 [2.946, 2.953]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descr="/home/claude/misure_prestazione.png" id="279" name="Google Shape;27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926080"/>
            <a:ext cx="4480560" cy="16916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boxplot_prestazioni.png" id="280" name="Google Shape;28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2926080"/>
            <a:ext cx="4114800" cy="1691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1"/>
          <p:cNvSpPr/>
          <p:nvPr/>
        </p:nvSpPr>
        <p:spPr>
          <a:xfrm>
            <a:off x="228600" y="4663440"/>
            <a:ext cx="4480560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"/>
          <p:cNvSpPr/>
          <p:nvPr/>
        </p:nvSpPr>
        <p:spPr>
          <a:xfrm>
            <a:off x="347472" y="4681728"/>
            <a:ext cx="425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 a U rovesciata: min a m=1.0 per effetto dormant con m grande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4800600" y="4663440"/>
            <a:ext cx="4114800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4919472" y="4681728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IC stretti su tutte le misure → alta riproducibilità tra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Verifica della Legge di Little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L = λ_jobs · W  →  W_Little = L / λ_jobs  con  λ_jobs = jobs_usciti / t_sim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2"/>
          <p:cNvSpPr/>
          <p:nvPr/>
        </p:nvSpPr>
        <p:spPr>
          <a:xfrm>
            <a:off x="228600" y="1097280"/>
            <a:ext cx="8686800" cy="658368"/>
          </a:xfrm>
          <a:prstGeom prst="rect">
            <a:avLst/>
          </a:prstGeom>
          <a:solidFill>
            <a:srgbClr val="EEF6FF"/>
          </a:solidFill>
          <a:ln cap="flat" cmpd="sng" w="254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2"/>
          <p:cNvSpPr/>
          <p:nvPr/>
        </p:nvSpPr>
        <p:spPr>
          <a:xfrm>
            <a:off x="365760" y="1225296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W_Little = L / λ_jobs      λ_jobs = throughput osservato (jobs/s, NON batch/s)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12"/>
          <p:cNvGraphicFramePr/>
          <p:nvPr/>
        </p:nvGraphicFramePr>
        <p:xfrm>
          <a:off x="548640" y="1847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{9DB3EEF5-BF4D-4BF8-9E72-9CFC26119300}</a:tableStyleId>
              </a:tblPr>
              <a:tblGrid>
                <a:gridCol w="594350"/>
                <a:gridCol w="1097275"/>
                <a:gridCol w="1463050"/>
                <a:gridCol w="1508750"/>
                <a:gridCol w="1325875"/>
                <a:gridCol w="205740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 mis. (s)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W_Little (s)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Errore 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Esito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3E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29.75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5.916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5.951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0.60%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16.92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6.463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6.768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4.72%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15.20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7.957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8.509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6.94%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10.327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11.258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334155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33415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9.02%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D9E75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D9E7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✓ OK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1E4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12"/>
          <p:cNvSpPr/>
          <p:nvPr/>
        </p:nvSpPr>
        <p:spPr>
          <a:xfrm>
            <a:off x="411480" y="3657600"/>
            <a:ext cx="1920240" cy="1005840"/>
          </a:xfrm>
          <a:prstGeom prst="rect">
            <a:avLst/>
          </a:prstGeom>
          <a:solidFill>
            <a:srgbClr val="E8F4F8"/>
          </a:solidFill>
          <a:ln cap="flat" cmpd="sng" w="254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411480" y="3657600"/>
            <a:ext cx="1920240" cy="54864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411480" y="37673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0.60%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2"/>
          <p:cNvSpPr/>
          <p:nvPr/>
        </p:nvSpPr>
        <p:spPr>
          <a:xfrm>
            <a:off x="411480" y="43159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Errore min (m=0.5)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2"/>
          <p:cNvSpPr/>
          <p:nvPr/>
        </p:nvSpPr>
        <p:spPr>
          <a:xfrm>
            <a:off x="2423160" y="3657600"/>
            <a:ext cx="1920240" cy="1005840"/>
          </a:xfrm>
          <a:prstGeom prst="rect">
            <a:avLst/>
          </a:prstGeom>
          <a:solidFill>
            <a:srgbClr val="E8F4F8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2"/>
          <p:cNvSpPr/>
          <p:nvPr/>
        </p:nvSpPr>
        <p:spPr>
          <a:xfrm>
            <a:off x="2423160" y="3657600"/>
            <a:ext cx="1920240" cy="54864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2"/>
          <p:cNvSpPr/>
          <p:nvPr/>
        </p:nvSpPr>
        <p:spPr>
          <a:xfrm>
            <a:off x="2423160" y="37673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9.02%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2423160" y="43159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Errore max (m=2.0)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4434840" y="3657600"/>
            <a:ext cx="1920240" cy="1005840"/>
          </a:xfrm>
          <a:prstGeom prst="rect">
            <a:avLst/>
          </a:prstGeom>
          <a:solidFill>
            <a:srgbClr val="E8F4F8"/>
          </a:solidFill>
          <a:ln cap="flat" cmpd="sng" w="254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4434840" y="3657600"/>
            <a:ext cx="1920240" cy="54864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4434840" y="37673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&lt; 10%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4434840" y="43159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Soglia accettabilità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446520" y="3657600"/>
            <a:ext cx="1920240" cy="1005840"/>
          </a:xfrm>
          <a:prstGeom prst="rect">
            <a:avLst/>
          </a:prstGeom>
          <a:solidFill>
            <a:srgbClr val="E8F4F8"/>
          </a:solidFill>
          <a:ln cap="flat" cmpd="sng" w="254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6446520" y="3657600"/>
            <a:ext cx="1920240" cy="54864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446520" y="3767328"/>
            <a:ext cx="1920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4 /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446520" y="4315968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 verificate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228600" y="4709160"/>
            <a:ext cx="8686800" cy="256032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347472" y="4727448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Errore crescente con m atteso: con basso carico (m grande) i periodi dormant aumentano la variabilità di W → effetto finito della simulazione, non errore del modello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365760" y="73152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Conclusioni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365760" y="621792"/>
            <a:ext cx="7772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Tutti i requisiti della consegna soddisfatti — 13/13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BB"/>
                </a:solidFill>
                <a:latin typeface="Calibri"/>
                <a:ea typeface="Calibri"/>
                <a:cs typeface="Calibri"/>
                <a:sym typeface="Calibri"/>
              </a:rPr>
              <a:t>Mohamed Samir Haffoudhi  |  Simulazione di Sistemi  |  M1 Informatica  A.A. 2025/2026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228600" y="114300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3"/>
          <p:cNvSpPr/>
          <p:nvPr/>
        </p:nvSpPr>
        <p:spPr>
          <a:xfrm>
            <a:off x="228600" y="1143000"/>
            <a:ext cx="502920" cy="1097280"/>
          </a:xfrm>
          <a:prstGeom prst="rect">
            <a:avLst/>
          </a:prstGeom>
          <a:solidFill>
            <a:srgbClr val="1D9E75"/>
          </a:solidFill>
          <a:ln cap="flat" cmpd="sng" w="12700">
            <a:solidFill>
              <a:srgbClr val="1D9E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228600" y="114300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82296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Modello 100% conforme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822960" y="158191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Tutti i parametri specifica implementati. BatchSource.cc + BulkServiceVacationServer.cc creati da zero.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228600" y="233172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228600" y="2331720"/>
            <a:ext cx="502920" cy="1097280"/>
          </a:xfrm>
          <a:prstGeom prst="rect">
            <a:avLst/>
          </a:prstGeom>
          <a:solidFill>
            <a:srgbClr val="2E5FA3"/>
          </a:solidFill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228600" y="233172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822960" y="24231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5FA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5FA3"/>
                </a:solidFill>
                <a:latin typeface="Calibri"/>
                <a:ea typeface="Calibri"/>
                <a:cs typeface="Calibri"/>
                <a:sym typeface="Calibri"/>
              </a:rPr>
              <a:t>Transiente analizzato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822960" y="277063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Config transient_m* dedicate (warmup=0). Warm-up 10000s confermato con margine ×1.5 (caso m=0.5).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228600" y="352044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228600" y="3520440"/>
            <a:ext cx="502920" cy="109728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3"/>
          <p:cNvSpPr/>
          <p:nvPr/>
        </p:nvSpPr>
        <p:spPr>
          <a:xfrm>
            <a:off x="228600" y="352044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822960" y="3611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Statistica robusta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822960" y="395935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repeat=20, seed-set=${repetition}. IC 95% molto stretti su L, W, ρ, E[vacation].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4709160" y="114300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4709160" y="1143000"/>
            <a:ext cx="502920" cy="1097280"/>
          </a:xfrm>
          <a:prstGeom prst="rect">
            <a:avLst/>
          </a:prstGeom>
          <a:solidFill>
            <a:srgbClr val="0D1B3E"/>
          </a:solidFill>
          <a:ln cap="flat" cmpd="sng" w="12700">
            <a:solidFill>
              <a:srgbClr val="0D1B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4709160" y="114300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303520" y="123444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3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3E"/>
                </a:solidFill>
                <a:latin typeface="Calibri"/>
                <a:ea typeface="Calibri"/>
                <a:cs typeface="Calibri"/>
                <a:sym typeface="Calibri"/>
              </a:rPr>
              <a:t>Legge di Little verificata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5303520" y="158191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Errore max 9.02% (m=2.0), sempre &lt; 10%. λ_jobs correttamente stimato via throughput osservato.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4709160" y="233172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3"/>
          <p:cNvSpPr/>
          <p:nvPr/>
        </p:nvSpPr>
        <p:spPr>
          <a:xfrm>
            <a:off x="4709160" y="2331720"/>
            <a:ext cx="502920" cy="1097280"/>
          </a:xfrm>
          <a:prstGeom prst="rect">
            <a:avLst/>
          </a:prstGeom>
          <a:solidFill>
            <a:srgbClr val="D97706"/>
          </a:solidFill>
          <a:ln cap="flat" cmpd="sng" w="12700">
            <a:solidFill>
              <a:srgbClr val="D977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4709160" y="233172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5303520" y="24231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770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Comportamento coerente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5303520" y="277063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L monotona con m. W a U rovesciata (effetto N-policy). ρ&lt;1 per tutte le config. E[vacation]≈2.95s.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4709160" y="3520440"/>
            <a:ext cx="4251960" cy="109728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709160" y="3520440"/>
            <a:ext cx="502920" cy="1097280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3"/>
          <p:cNvSpPr/>
          <p:nvPr/>
        </p:nvSpPr>
        <p:spPr>
          <a:xfrm>
            <a:off x="4709160" y="3520440"/>
            <a:ext cx="502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5303520" y="3611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Correzione critica applicata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5303520" y="3959352"/>
            <a:ext cx="3566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emit(numInSystemSignal, getSystemPopulation()) aggiunto dopo batchBeingServed=0 → L corretta.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3E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1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4"/>
          <p:cNvSpPr/>
          <p:nvPr/>
        </p:nvSpPr>
        <p:spPr>
          <a:xfrm>
            <a:off x="548640" y="91440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Grazie per l'attenzione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4"/>
          <p:cNvSpPr/>
          <p:nvPr/>
        </p:nvSpPr>
        <p:spPr>
          <a:xfrm>
            <a:off x="548640" y="16916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Domande?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4" name="Google Shape;364;p14"/>
          <p:cNvCxnSpPr/>
          <p:nvPr/>
        </p:nvCxnSpPr>
        <p:spPr>
          <a:xfrm>
            <a:off x="548640" y="246888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2E5FA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4"/>
          <p:cNvSpPr/>
          <p:nvPr/>
        </p:nvSpPr>
        <p:spPr>
          <a:xfrm>
            <a:off x="548640" y="2651760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Autore: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4"/>
          <p:cNvSpPr/>
          <p:nvPr/>
        </p:nvSpPr>
        <p:spPr>
          <a:xfrm>
            <a:off x="1737360" y="2651760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Mohamed Samir Haffoudhi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4"/>
          <p:cNvSpPr/>
          <p:nvPr/>
        </p:nvSpPr>
        <p:spPr>
          <a:xfrm>
            <a:off x="548640" y="303580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Email: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4"/>
          <p:cNvSpPr/>
          <p:nvPr/>
        </p:nvSpPr>
        <p:spPr>
          <a:xfrm>
            <a:off x="1737360" y="3035808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mohamed.haffoudhi@studio.unibo.it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4"/>
          <p:cNvSpPr/>
          <p:nvPr/>
        </p:nvSpPr>
        <p:spPr>
          <a:xfrm>
            <a:off x="548640" y="3419856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Corso: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4"/>
          <p:cNvSpPr/>
          <p:nvPr/>
        </p:nvSpPr>
        <p:spPr>
          <a:xfrm>
            <a:off x="1737360" y="3419856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Simulazione di Sistemi — M1 Informatica A.A. 2025/2026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4"/>
          <p:cNvSpPr/>
          <p:nvPr/>
        </p:nvSpPr>
        <p:spPr>
          <a:xfrm>
            <a:off x="548640" y="3803904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GitHub: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4"/>
          <p:cNvSpPr/>
          <p:nvPr/>
        </p:nvSpPr>
        <p:spPr>
          <a:xfrm>
            <a:off x="1737360" y="3803904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Makefile generato con opp_makemake — target: modello1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548640" y="4187952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Rif.: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1737360" y="4187952"/>
            <a:ext cx="6858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P. Karan, S. Pradhan — Performance Evaluation 167 (2025) 102459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548640" y="48463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789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07890"/>
                </a:solidFill>
                <a:latin typeface="Calibri"/>
                <a:ea typeface="Calibri"/>
                <a:cs typeface="Calibri"/>
                <a:sym typeface="Calibri"/>
              </a:rPr>
              <a:t>12 slides — Simulazione di Sistemi — Università di Bologna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